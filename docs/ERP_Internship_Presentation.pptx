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373" r:id="rId3"/>
    <p:sldId id="372" r:id="rId4"/>
    <p:sldId id="374" r:id="rId5"/>
    <p:sldId id="375" r:id="rId6"/>
    <p:sldId id="378" r:id="rId7"/>
    <p:sldId id="379" r:id="rId8"/>
    <p:sldId id="380" r:id="rId9"/>
    <p:sldId id="382" r:id="rId10"/>
    <p:sldId id="383" r:id="rId11"/>
    <p:sldId id="384" r:id="rId12"/>
    <p:sldId id="385" r:id="rId13"/>
    <p:sldId id="386" r:id="rId14"/>
    <p:sldId id="388" r:id="rId15"/>
    <p:sldId id="389" r:id="rId16"/>
    <p:sldId id="390" r:id="rId31"/>
    <p:sldId id="391" r:id="rId32"/>
    <p:sldId id="392" r:id="rId33"/>
    <p:sldId id="393" r:id="rId34"/>
  </p:sldIdLst>
  <p:sldSz cx="9144000" cy="6858000" type="screen4x3"/>
  <p:notesSz cx="6858000" cy="9144000"/>
  <p:embeddedFontLst>
    <p:embeddedFont>
      <p:font typeface="Archivo Narrow" panose="020B0604020202020204" charset="0"/>
      <p:regular r:id="rId19"/>
      <p:bold r:id="rId20"/>
      <p:italic r:id="rId21"/>
      <p:boldItalic r:id="rId22"/>
    </p:embeddedFont>
    <p:embeddedFont>
      <p:font typeface="Georgia" panose="02040502050405020303" pitchFamily="18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53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093" autoAdjust="0"/>
  </p:normalViewPr>
  <p:slideViewPr>
    <p:cSldViewPr>
      <p:cViewPr varScale="1">
        <p:scale>
          <a:sx n="77" d="100"/>
          <a:sy n="77" d="100"/>
        </p:scale>
        <p:origin x="161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font" Target="fonts/font7.fntdata"/><Relationship Id="rId26" Type="http://schemas.openxmlformats.org/officeDocument/2006/relationships/font" Target="fonts/font8.fntdata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Shape 1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5293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ctrTitle"/>
          </p:nvPr>
        </p:nvSpPr>
        <p:spPr>
          <a:xfrm>
            <a:off x="311700" y="1886797"/>
            <a:ext cx="8520600" cy="18429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13" name="Shape 13"/>
          <p:cNvSpPr/>
          <p:nvPr/>
        </p:nvSpPr>
        <p:spPr>
          <a:xfrm flipH="1">
            <a:off x="18" y="67300"/>
            <a:ext cx="9143982" cy="1420254"/>
          </a:xfrm>
          <a:prstGeom prst="flowChartDocument">
            <a:avLst/>
          </a:prstGeom>
          <a:noFill/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Shape 14"/>
          <p:cNvSpPr/>
          <p:nvPr/>
        </p:nvSpPr>
        <p:spPr>
          <a:xfrm flipH="1">
            <a:off x="18" y="0"/>
            <a:ext cx="9143982" cy="1420254"/>
          </a:xfrm>
          <a:prstGeom prst="flowChartDocument">
            <a:avLst/>
          </a:prstGeom>
          <a:solidFill>
            <a:srgbClr val="0B539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Shape 15"/>
          <p:cNvSpPr/>
          <p:nvPr/>
        </p:nvSpPr>
        <p:spPr>
          <a:xfrm>
            <a:off x="-11025" y="5919900"/>
            <a:ext cx="9155100" cy="9381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Shape 16"/>
          <p:cNvSpPr txBox="1"/>
          <p:nvPr/>
        </p:nvSpPr>
        <p:spPr>
          <a:xfrm>
            <a:off x="25" y="5919900"/>
            <a:ext cx="35721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MISSION</a:t>
            </a:r>
            <a:endParaRPr b="1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 is a nurturing ground for an individual’s holistic development to make effective contribution to the society in a dynamic environment</a:t>
            </a:r>
            <a:endParaRPr sz="11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709075" y="5919900"/>
            <a:ext cx="2030700" cy="6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VISION</a:t>
            </a:r>
            <a:endParaRPr b="1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 sz="11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7875" y="5919900"/>
            <a:ext cx="29844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CORE   VALUES</a:t>
            </a:r>
            <a:endParaRPr b="1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Faith in God |  Moral Uprightness</a:t>
            </a:r>
            <a:b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 Love of Fellow Beings   </a:t>
            </a:r>
            <a:b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1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Social Responsibility | Pursuit of Excellence</a:t>
            </a:r>
            <a:endParaRPr sz="11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9" name="Shape 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943450" y="232167"/>
            <a:ext cx="2764676" cy="10022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Shape 30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marL="914400" lvl="1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600"/>
              </a:spcBef>
              <a:spcAft>
                <a:spcPts val="6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31" name="Shape 3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32" name="Shape 32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Shape 33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4" name="Shape 34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Shape 35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Shape 36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600"/>
              </a:spcBef>
              <a:spcAft>
                <a:spcPts val="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Shape 40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600"/>
              </a:spcBef>
              <a:spcAft>
                <a:spcPts val="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2" name="Shape 42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Shape 43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4" name="Shape 44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Shape 45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Shape 46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56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7" name="Shape 57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600"/>
              </a:spcBef>
              <a:spcAft>
                <a:spcPts val="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9" name="Shape 59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Shape 60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61" name="Shape 61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Shape 62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Shape 63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65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6" name="Shape 6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67" name="Shape 67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Shape 68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69" name="Shape 69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Shape 70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Shape 71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Shape 74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5" name="Shape 75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6" name="Shape 76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marL="914400" lvl="1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600"/>
              </a:spcBef>
              <a:spcAft>
                <a:spcPts val="6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77" name="Shape 7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78" name="Shape 78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Shape 79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0" name="Shape 80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Shape 81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Shape 82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</a:lstStyle>
          <a:p>
            <a:endParaRPr/>
          </a:p>
        </p:txBody>
      </p:sp>
      <p:sp>
        <p:nvSpPr>
          <p:cNvPr id="85" name="Shape 8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86" name="Shape 86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Shape 87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8" name="Shape 88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Shape 89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Shape 90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92"/>
          <p:cNvSpPr txBox="1">
            <a:spLocks noGrp="1"/>
          </p:cNvSpPr>
          <p:nvPr>
            <p:ph type="title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endParaRPr/>
          </a:p>
        </p:txBody>
      </p:sp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68300" algn="ctr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marL="914400" lvl="1" indent="-342900" algn="ctr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algn="ctr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algn="ctr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algn="ctr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algn="ctr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algn="ctr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algn="ctr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algn="ctr">
              <a:spcBef>
                <a:spcPts val="600"/>
              </a:spcBef>
              <a:spcAft>
                <a:spcPts val="6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94" name="Shape 9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95" name="Shape 95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Shape 96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7" name="Shape 97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Shape 98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Shape 99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102" name="Shape 102"/>
          <p:cNvSpPr/>
          <p:nvPr/>
        </p:nvSpPr>
        <p:spPr>
          <a:xfrm>
            <a:off x="-11025" y="6347775"/>
            <a:ext cx="9155100" cy="5103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Shape 103"/>
          <p:cNvSpPr txBox="1"/>
          <p:nvPr/>
        </p:nvSpPr>
        <p:spPr>
          <a:xfrm>
            <a:off x="3343200" y="6431140"/>
            <a:ext cx="24576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Excellence and Service</a:t>
            </a:r>
            <a:endParaRPr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04" name="Shape 104"/>
          <p:cNvSpPr/>
          <p:nvPr/>
        </p:nvSpPr>
        <p:spPr>
          <a:xfrm rot="10800000">
            <a:off x="6945800" y="275"/>
            <a:ext cx="2207100" cy="6147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Shape 105"/>
          <p:cNvSpPr/>
          <p:nvPr/>
        </p:nvSpPr>
        <p:spPr>
          <a:xfrm rot="10800000">
            <a:off x="-2200" y="-25"/>
            <a:ext cx="9155100" cy="364800"/>
          </a:xfrm>
          <a:prstGeom prst="round2SameRect">
            <a:avLst>
              <a:gd name="adj1" fmla="val 12503"/>
              <a:gd name="adj2" fmla="val 0"/>
            </a:avLst>
          </a:prstGeom>
          <a:solidFill>
            <a:srgbClr val="0B5394"/>
          </a:solidFill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none" w="med" len="med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Shape 106"/>
          <p:cNvSpPr txBox="1"/>
          <p:nvPr/>
        </p:nvSpPr>
        <p:spPr>
          <a:xfrm>
            <a:off x="6945800" y="248094"/>
            <a:ext cx="2207100" cy="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CHRIST</a:t>
            </a:r>
            <a:br>
              <a:rPr lang="en-GB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GB" sz="1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Deemed to be University</a:t>
            </a:r>
            <a:endParaRPr sz="12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Archivo Narrow"/>
              <a:buNone/>
              <a:defRPr sz="2800" b="1">
                <a:latin typeface="Archivo Narrow"/>
                <a:ea typeface="Archivo Narrow"/>
                <a:cs typeface="Archivo Narrow"/>
                <a:sym typeface="Archivo Narrow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683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chivo Narrow"/>
              <a:buChar char="●"/>
              <a:defRPr sz="2200">
                <a:latin typeface="Archivo Narrow"/>
                <a:ea typeface="Archivo Narrow"/>
                <a:cs typeface="Archivo Narrow"/>
                <a:sym typeface="Archivo Narrow"/>
              </a:defRPr>
            </a:lvl1pPr>
            <a:lvl2pPr marL="914400" lvl="1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○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2pPr>
            <a:lvl3pPr marL="1371600" lvl="2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■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3pPr>
            <a:lvl4pPr marL="1828800" lvl="3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●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4pPr>
            <a:lvl5pPr marL="2286000" lvl="4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○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5pPr>
            <a:lvl6pPr marL="2743200" lvl="5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■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6pPr>
            <a:lvl7pPr marL="3200400" lvl="6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●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7pPr>
            <a:lvl8pPr marL="3657600" lvl="7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chivo Narrow"/>
              <a:buChar char="○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8pPr>
            <a:lvl9pPr marL="4114800" lvl="8" indent="-3429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Font typeface="Archivo Narrow"/>
              <a:buChar char="■"/>
              <a:defRPr sz="1800">
                <a:latin typeface="Archivo Narrow"/>
                <a:ea typeface="Archivo Narrow"/>
                <a:cs typeface="Archivo Narrow"/>
                <a:sym typeface="Archivo Narrow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2pPr>
            <a:lvl3pPr lvl="2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3pPr>
            <a:lvl4pPr lvl="3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4pPr>
            <a:lvl5pPr lvl="4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5pPr>
            <a:lvl6pPr lvl="5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6pPr>
            <a:lvl7pPr lvl="6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7pPr>
            <a:lvl8pPr lvl="7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8pPr>
            <a:lvl9pPr lvl="8" algn="r">
              <a:spcBef>
                <a:spcPts val="0"/>
              </a:spcBef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 txBox="1">
            <a:spLocks noGrp="1"/>
          </p:cNvSpPr>
          <p:nvPr>
            <p:ph type="subTitle" idx="1"/>
          </p:nvPr>
        </p:nvSpPr>
        <p:spPr>
          <a:xfrm>
            <a:off x="152400" y="3962400"/>
            <a:ext cx="4092300" cy="19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Company Guide</a:t>
            </a:r>
          </a:p>
          <a:p>
            <a:pPr algn="l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Sushma ck</a:t>
            </a:r>
          </a:p>
          <a:p>
            <a:pPr algn="l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HR</a:t>
            </a:r>
          </a:p>
          <a:p>
            <a:pPr algn="l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SCONTINENT TECH</a:t>
            </a:r>
          </a:p>
          <a:p>
            <a:pPr algn="l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112"/>
          <p:cNvSpPr txBox="1">
            <a:spLocks/>
          </p:cNvSpPr>
          <p:nvPr/>
        </p:nvSpPr>
        <p:spPr>
          <a:xfrm>
            <a:off x="4800600" y="4081650"/>
            <a:ext cx="46413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Faculty Guide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Krishna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Presannakumar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CHRIST (deemed to be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</a:p>
          <a:p>
            <a:pPr marL="457200" marR="0" lvl="0" indent="-3683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2800"/>
              <a:buFont typeface="Archivo Narrow"/>
              <a:buNone/>
              <a:tabLst/>
              <a:defRPr/>
            </a:pPr>
            <a:endParaRPr kumimoji="0" lang="en-US" sz="2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Archivo Narrow"/>
              <a:cs typeface="Times New Roman" panose="02020603050405020304" pitchFamily="18" charset="0"/>
              <a:sym typeface="Archivo Narrow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9BF3F2-2E11-D9E7-23BE-1482AAF8C124}"/>
              </a:ext>
            </a:extLst>
          </p:cNvPr>
          <p:cNvSpPr txBox="1"/>
          <p:nvPr/>
        </p:nvSpPr>
        <p:spPr>
          <a:xfrm>
            <a:off x="3009900" y="2952703"/>
            <a:ext cx="4000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Akash Prathap(2343073)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1C0B0-69E4-18CD-635D-45E5DE18EF89}"/>
              </a:ext>
            </a:extLst>
          </p:cNvPr>
          <p:cNvSpPr txBox="1"/>
          <p:nvPr/>
        </p:nvSpPr>
        <p:spPr>
          <a:xfrm>
            <a:off x="2278705" y="2435178"/>
            <a:ext cx="45865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4EE6EE-AD47-C374-74D5-DFA3AEEEE21B}"/>
              </a:ext>
            </a:extLst>
          </p:cNvPr>
          <p:cNvSpPr/>
          <p:nvPr/>
        </p:nvSpPr>
        <p:spPr>
          <a:xfrm>
            <a:off x="1712775" y="1622111"/>
            <a:ext cx="5718450" cy="1120844"/>
          </a:xfrm>
          <a:prstGeom prst="roundRect">
            <a:avLst/>
          </a:prstGeom>
          <a:solidFill>
            <a:srgbClr val="0B53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C7C09D-4EA7-3EFC-6297-B3D018C66AE4}"/>
              </a:ext>
            </a:extLst>
          </p:cNvPr>
          <p:cNvSpPr txBox="1"/>
          <p:nvPr/>
        </p:nvSpPr>
        <p:spPr>
          <a:xfrm>
            <a:off x="2705100" y="1963820"/>
            <a:ext cx="3733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bg1"/>
                </a:solidFill>
              </a:rPr>
              <a:t>SCONTINENT TECH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DAC2-7718-45A8-2A1B-27FC1F44C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About the Company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4F937-3C3A-7A39-B3F6-8AD50754A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536633"/>
            <a:ext cx="8520600" cy="3340167"/>
          </a:xfrm>
        </p:spPr>
        <p:txBody>
          <a:bodyPr/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company is a technology-driven organization focused on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development and digital solutions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specializes in designing and developing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responsive, user-friendly websites and web applications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 clients across different domains.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company works with modern web technologies such as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HTML, CSS</a:t>
            </a:r>
            <a:r>
              <a:rPr lang="en-US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en-US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deliver  solutions.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Emphasis is placed on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 UI/UX design, performance optimization, and secure coding practices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organization follows an </a:t>
            </a: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agile development approach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encouraging collaboration, regular feedback, and continuous improvement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872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About the Project</a:t>
            </a:r>
            <a:endParaRPr lang="en-US" sz="40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E118578-AB55-E666-FBC1-DE4BC4D790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538854"/>
            <a:ext cx="8277564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Student ERP is a local-first web app for managing students in an aviation training workflow.</a:t>
            </a:r>
          </a:p>
          <a:p>
            <a:r>
              <a:t>It centralizes attendance, fee tracking, and role-based access for staff and students.</a:t>
            </a:r>
          </a:p>
          <a:p>
            <a:r>
              <a:t>Includes Excel sync with attendance_master.xlsm and receipt upload handling.</a:t>
            </a:r>
          </a:p>
          <a:p>
            <a:r>
              <a:t>Built with FastAPI, SQLite, and a lightweight HTML/CSS/JS frontend.</a:t>
            </a:r>
          </a:p>
          <a:p>
            <a:r>
              <a:t>Deployed with Cloudflare Pages Functions and D1 for a free-tier production setup.</a:t>
            </a:r>
          </a:p>
          <a:p>
            <a:r>
              <a:t>Designed to be responsive, user-friendly, and maintainable.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12E8-460A-24FD-BEA9-DBD677B0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Project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73CA6D-B7F5-64A7-18F7-CAA73DC55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Gathered requirements from training-institute workflows (attendance, fees, roles).</a:t>
            </a:r>
          </a:p>
          <a:p>
            <a:r>
              <a:t>Designed database schema and API endpoints.</a:t>
            </a:r>
          </a:p>
          <a:p>
            <a:r>
              <a:t>Implemented backend with FastAPI and SQLite.</a:t>
            </a:r>
          </a:p>
          <a:p>
            <a:r>
              <a:t>Built frontend dashboards for staff and students.</a:t>
            </a:r>
          </a:p>
          <a:p>
            <a:r>
              <a:t>Added attendance sync with Excel and date-wise views.</a:t>
            </a:r>
          </a:p>
          <a:p>
            <a:r>
              <a:t>Implemented fee recording, receipts, and balance views.</a:t>
            </a:r>
          </a:p>
          <a:p>
            <a:r>
              <a:t>Integrated payment flow and invoice generation.</a:t>
            </a:r>
          </a:p>
          <a:p>
            <a:r>
              <a:t>Tested flows, fixed bugs, and optimized UX.</a:t>
            </a:r>
          </a:p>
          <a:p>
            <a:r>
              <a:t>Optimized code for better performance and readability.</a:t>
            </a:r>
          </a:p>
        </p:txBody>
      </p:sp>
    </p:spTree>
    <p:extLst>
      <p:ext uri="{BB962C8B-B14F-4D97-AF65-F5344CB8AC3E}">
        <p14:creationId xmlns:p14="http://schemas.microsoft.com/office/powerpoint/2010/main" val="308622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CCB03-BBC4-7EB2-383C-989FFD70A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Learnings from the Project/Internship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B57A6F-7963-7F3E-159C-C2D4D9D24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Learned to design REST APIs and align them with frontend flows.</a:t>
            </a:r>
          </a:p>
          <a:p>
            <a:r>
              <a:t>Practiced schema design and data integrity in SQLite.</a:t>
            </a:r>
          </a:p>
          <a:p>
            <a:r>
              <a:t>Implemented file uploads and invoice generation.</a:t>
            </a:r>
          </a:p>
          <a:p>
            <a:r>
              <a:t>Handled session expiry and role-based access control.</a:t>
            </a:r>
          </a:p>
          <a:p>
            <a:r>
              <a:t>Gained experience integrating payments and receipts.</a:t>
            </a:r>
          </a:p>
          <a:p>
            <a:r>
              <a:t>Improved debugging and QA across UI and API.</a:t>
            </a:r>
          </a:p>
          <a:p>
            <a:r>
              <a:t>Deployed a full-stack app on Cloudflare Pages.</a:t>
            </a:r>
          </a:p>
          <a:p>
            <a:r>
              <a:t>Improved understanding of UI/UX principles and user-centric design.</a:t>
            </a:r>
          </a:p>
        </p:txBody>
      </p:sp>
    </p:spTree>
    <p:extLst>
      <p:ext uri="{BB962C8B-B14F-4D97-AF65-F5344CB8AC3E}">
        <p14:creationId xmlns:p14="http://schemas.microsoft.com/office/powerpoint/2010/main" val="4126550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98ECE-A681-16B0-67D9-2B68D2BB1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75155"/>
            <a:ext cx="8520600" cy="763500"/>
          </a:xfrm>
        </p:spPr>
        <p:txBody>
          <a:bodyPr/>
          <a:lstStyle/>
          <a:p>
            <a:r>
              <a:rPr lang="en-IN" sz="4000" dirty="0"/>
              <a:t>Problem Statement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1A711FC-3B0F-6EEE-2D97-1641C37BCF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447800"/>
            <a:ext cx="807085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Training institutes often rely on Excel for attendance and fee tracking, which is error-prone and hard to audit.</a:t>
            </a:r>
          </a:p>
          <a:p>
            <a:r>
              <a:t>Staff need a fast way to record attendance, generate receipts, and track balances.</a:t>
            </a:r>
          </a:p>
          <a:p>
            <a:r>
              <a:t>Students need transparent access to their own attendance and fee status.</a:t>
            </a:r>
          </a:p>
          <a:p>
            <a:r>
              <a:t>A lightweight, role-based web app is needed to centralize data and improve efficiency.</a:t>
            </a:r>
          </a:p>
          <a:p>
            <a:r>
              <a:t>Websites also need responsive design to function properly across devices such as desktops, tablets, and smartphones.</a:t>
            </a:r>
          </a:p>
        </p:txBody>
      </p:sp>
    </p:spTree>
    <p:extLst>
      <p:ext uri="{BB962C8B-B14F-4D97-AF65-F5344CB8AC3E}">
        <p14:creationId xmlns:p14="http://schemas.microsoft.com/office/powerpoint/2010/main" val="3582240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422ED-A6CD-7BCC-3137-8CADEB727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Literature Review / Background Study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F4AE3F0-4FE5-DCE4-717C-92A64E24D3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910861"/>
            <a:ext cx="876300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Local-first web apps with a single SQLite database can simplify small-institute workflows.</a:t>
            </a:r>
          </a:p>
          <a:p>
            <a:r>
              <a:t>FastAPI enables quick development of clean REST endpoints for internal tools.</a:t>
            </a:r>
          </a:p>
          <a:p>
            <a:r>
              <a:t>Role-based access control improves privacy for student data.</a:t>
            </a:r>
          </a:p>
          <a:p>
            <a:r>
              <a:t>Lightweight HTML/CSS/JS frontends can deliver responsive dashboards without heavy frameworks.</a:t>
            </a:r>
          </a:p>
          <a:p>
            <a:r>
              <a:t>Cloudflare Pages Functions and D1 provide a low-cost deployment path.</a:t>
            </a:r>
          </a:p>
          <a:p>
            <a:r>
              <a:t>Research in user experience (UX) shows that websites with dynamic content and automated assistance systems increase user satisfaction and interaction.</a:t>
            </a:r>
          </a:p>
        </p:txBody>
      </p:sp>
    </p:spTree>
    <p:extLst>
      <p:ext uri="{BB962C8B-B14F-4D97-AF65-F5344CB8AC3E}">
        <p14:creationId xmlns:p14="http://schemas.microsoft.com/office/powerpoint/2010/main" val="4282362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4037-148A-4E7A-BF4D-151DFF255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Objectives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3C2A69-009A-EBCE-24A5-8987198587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1" y="1267381"/>
            <a:ext cx="8679900" cy="50937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Build a student management portal tailored for aviation training institutes.</a:t>
            </a:r>
          </a:p>
          <a:p>
            <a:r>
              <a:t>Provide role-based dashboards for staff and students.</a:t>
            </a:r>
          </a:p>
          <a:p>
            <a:r>
              <a:t>Enable daily attendance recording and date-wise views.</a:t>
            </a:r>
          </a:p>
          <a:p>
            <a:r>
              <a:t>Support fee recording, receipt uploads, and balance tracking.</a:t>
            </a:r>
          </a:p>
          <a:p>
            <a:r>
              <a:t>Sync attendance with existing Excel workflows.</a:t>
            </a:r>
          </a:p>
          <a:p>
            <a:r>
              <a:t>Deploy the app for easy access and maintenance.</a:t>
            </a:r>
          </a:p>
        </p:txBody>
      </p:sp>
    </p:spTree>
    <p:extLst>
      <p:ext uri="{BB962C8B-B14F-4D97-AF65-F5344CB8AC3E}">
        <p14:creationId xmlns:p14="http://schemas.microsoft.com/office/powerpoint/2010/main" val="333068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EDB30-1900-0498-669C-B41FA3CC7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Methodology / Approach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DBBA6CB-3A30-7929-D023-C3739EA29B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828800"/>
            <a:ext cx="891540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Requirement analysis and workflow mapping from existing Excel processes.</a:t>
            </a:r>
          </a:p>
          <a:p>
            <a:r>
              <a:t>System design for entities: students, attendance, fees, receipts, payments.</a:t>
            </a:r>
          </a:p>
          <a:p>
            <a:r>
              <a:t>Backend development with FastAPI endpoints and SQLite schema.</a:t>
            </a:r>
          </a:p>
          <a:p>
            <a:r>
              <a:t>Frontend UI with responsive HTML/CSS/JS dashboards.</a:t>
            </a:r>
          </a:p>
          <a:p>
            <a:r>
              <a:t>Integration of Excel sync and payment flow.</a:t>
            </a:r>
          </a:p>
          <a:p>
            <a:r>
              <a:t>Testing, debugging, and iterative UX improvements.</a:t>
            </a:r>
          </a:p>
        </p:txBody>
      </p:sp>
    </p:spTree>
    <p:extLst>
      <p:ext uri="{BB962C8B-B14F-4D97-AF65-F5344CB8AC3E}">
        <p14:creationId xmlns:p14="http://schemas.microsoft.com/office/powerpoint/2010/main" val="36794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02F70-FF5D-F59E-46DC-D547DF654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Technical Implementation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13DCB8-D55B-162D-0555-E7B6D681E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FastAPI backend with REST endpoints for students, attendance, and fees.</a:t>
            </a:r>
          </a:p>
          <a:p>
            <a:r>
              <a:t>SQLite database for local-first storage.</a:t>
            </a:r>
          </a:p>
          <a:p>
            <a:r>
              <a:t>Attendance sync read/write with attendance_master.xlsm.</a:t>
            </a:r>
          </a:p>
          <a:p>
            <a:r>
              <a:t>Receipt upload handling and invoice PDF generation.</a:t>
            </a:r>
          </a:p>
          <a:p>
            <a:r>
              <a:t>Razorpay payment flow for student payments.</a:t>
            </a:r>
          </a:p>
          <a:p>
            <a:r>
              <a:t>Cloudflare Pages Functions + D1 for deployment.</a:t>
            </a:r>
          </a:p>
        </p:txBody>
      </p:sp>
    </p:spTree>
    <p:extLst>
      <p:ext uri="{BB962C8B-B14F-4D97-AF65-F5344CB8AC3E}">
        <p14:creationId xmlns:p14="http://schemas.microsoft.com/office/powerpoint/2010/main" val="3748609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ED5A-44F9-26E4-C364-AED4F7326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Testing &amp; Validation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1EE4456-BC01-23A4-1EFF-706C452278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905000"/>
            <a:ext cx="799465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Manual testing of attendance and fee workflows.</a:t>
            </a:r>
          </a:p>
          <a:p>
            <a:r>
              <a:t>Validated session expiry behavior and role-based access.</a:t>
            </a:r>
          </a:p>
          <a:p>
            <a:r>
              <a:t>Tested Excel sync accuracy and date formats.</a:t>
            </a:r>
          </a:p>
          <a:p>
            <a:r>
              <a:t>Checked receipt uploads and invoice downloads.</a:t>
            </a:r>
          </a:p>
          <a:p>
            <a:r>
              <a:t>Verified payment flow and gateway status.</a:t>
            </a:r>
          </a:p>
          <a:p>
            <a:r>
              <a:t>Ran backend tests with pytest.</a:t>
            </a:r>
          </a:p>
        </p:txBody>
      </p:sp>
    </p:spTree>
    <p:extLst>
      <p:ext uri="{BB962C8B-B14F-4D97-AF65-F5344CB8AC3E}">
        <p14:creationId xmlns:p14="http://schemas.microsoft.com/office/powerpoint/2010/main" val="4120157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7E0E2-ABBF-939D-07CA-91136998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Results &amp; Performance Analysis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DBA757D-4B52-0BD6-AEC6-4ECCEFC000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48276" y="2199411"/>
            <a:ext cx="852060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Staff can record attendance and fees quickly from the dashboard.</a:t>
            </a:r>
          </a:p>
          <a:p>
            <a:r>
              <a:t>Students can view their own attendance and balances.</a:t>
            </a:r>
          </a:p>
          <a:p>
            <a:r>
              <a:t>Excel sync keeps legacy workflows intact.</a:t>
            </a:r>
          </a:p>
          <a:p>
            <a:r>
              <a:t>Receipts and invoices are available for auditing.</a:t>
            </a:r>
          </a:p>
          <a:p>
            <a:r>
              <a:t>The system performs reliably for small-institute usage.</a:t>
            </a:r>
          </a:p>
          <a:p>
            <a:r>
              <a:t>Website remained responsive across different devices.</a:t>
            </a:r>
          </a:p>
        </p:txBody>
      </p:sp>
    </p:spTree>
    <p:extLst>
      <p:ext uri="{BB962C8B-B14F-4D97-AF65-F5344CB8AC3E}">
        <p14:creationId xmlns:p14="http://schemas.microsoft.com/office/powerpoint/2010/main" val="2928964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EBD6-6340-0E9E-527E-7B2FFD15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Challenges Faced &amp; Solutions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3371ECC-4CF4-0F40-D689-DCDFEBE3F5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720840"/>
            <a:ext cx="883920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Challenge: Keeping Excel sync consistent with database entries.</a:t>
            </a:r>
            <a:br/>
            <a:r>
              <a:t>Solution: Defined a strict date format and two-way sync flow.</a:t>
            </a:r>
          </a:p>
          <a:p>
            <a:r>
              <a:t>Challenge: Handling file uploads and invoice generation.</a:t>
            </a:r>
            <a:br/>
            <a:r>
              <a:t>Solution: Stored receipt files and generated PDFs per fee entry.</a:t>
            </a:r>
          </a:p>
          <a:p>
            <a:r>
              <a:t>Challenge: Secure access per student.</a:t>
            </a:r>
            <a:br/>
            <a:r>
              <a:t>Solution: Implemented role-based session checks.</a:t>
            </a:r>
          </a:p>
          <a:p>
            <a:r>
              <a:t>Challenge: Payment integration complexity.</a:t>
            </a:r>
            <a:br/>
            <a:r>
              <a:t>Solution: Implemented Razorpay order and verification endpoints.</a:t>
            </a:r>
          </a:p>
        </p:txBody>
      </p:sp>
    </p:spTree>
    <p:extLst>
      <p:ext uri="{BB962C8B-B14F-4D97-AF65-F5344CB8AC3E}">
        <p14:creationId xmlns:p14="http://schemas.microsoft.com/office/powerpoint/2010/main" val="51295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BD8A6-FC94-BBDE-ECD5-6A37A8AF6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609600"/>
            <a:ext cx="8520600" cy="763500"/>
          </a:xfrm>
        </p:spPr>
        <p:txBody>
          <a:bodyPr/>
          <a:lstStyle/>
          <a:p>
            <a:r>
              <a:rPr lang="en-IN" sz="4000" dirty="0"/>
              <a:t>Business Impact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463C28-E86D-7C60-2B0D-3556574AF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88900" indent="0">
              <a:buNone/>
            </a:pPr>
            <a:r>
              <a:t>Reduced manual effort in attendance and fee management.</a:t>
            </a:r>
          </a:p>
          <a:p>
            <a:r>
              <a:t>Improved transparency for students and staff.</a:t>
            </a:r>
          </a:p>
          <a:p>
            <a:r>
              <a:t>Centralized data for faster reporting and audits.</a:t>
            </a:r>
          </a:p>
          <a:p>
            <a:r>
              <a:t>Enabled low-cost deployment for small institutes.</a:t>
            </a:r>
          </a:p>
          <a:p>
            <a:r>
              <a:t>Responsive design made the web app accessible across multiple devices.</a:t>
            </a:r>
          </a:p>
        </p:txBody>
      </p:sp>
    </p:spTree>
    <p:extLst>
      <p:ext uri="{BB962C8B-B14F-4D97-AF65-F5344CB8AC3E}">
        <p14:creationId xmlns:p14="http://schemas.microsoft.com/office/powerpoint/2010/main" val="1984129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C3C94-2C7D-F655-DDA4-B63F3AAFB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Future Enhancements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039F91-7BDE-3BFD-2960-BA5E993839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stronger authentication with hashed passwords.</a:t>
            </a:r>
          </a:p>
          <a:p>
            <a:r>
              <a:t>Move to persistent sessions or JWT.</a:t>
            </a:r>
          </a:p>
          <a:p>
            <a:r>
              <a:t>Tighten CORS and HTTPS enforcement for production.</a:t>
            </a:r>
          </a:p>
          <a:p>
            <a:r>
              <a:t>Add reporting and analytics dashboards.</a:t>
            </a:r>
          </a:p>
          <a:p>
            <a:r>
              <a:t>Expand to mobile-friendly workflows.</a:t>
            </a:r>
          </a:p>
        </p:txBody>
      </p:sp>
    </p:spTree>
    <p:extLst>
      <p:ext uri="{BB962C8B-B14F-4D97-AF65-F5344CB8AC3E}">
        <p14:creationId xmlns:p14="http://schemas.microsoft.com/office/powerpoint/2010/main" val="1284211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1B893-BE09-8123-A2F4-D33E742E5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0" y="2971800"/>
            <a:ext cx="1898100" cy="763500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13925589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Flow: Payment Gateway Integration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Implementation of Razorpay order creation for fee payments:</a:t>
            </a:r>
          </a:p>
          <a:p>
            <a:br/>
            <a:pPr>
              <a:defRPr sz="1200">
                <a:latin typeface="Courier New"/>
              </a:defRPr>
            </a:pPr>
            <a:r>
              <a:t>def create_razorpay_order(payload, request):</a:t>
            </a:r>
            <a:br/>
            <a:r>
              <a:t>    user = _get_current_user(request)</a:t>
            </a:r>
            <a:br/>
            <a:r>
              <a:t>    if not (RAZORPAY_KEY_ID and RAZORPAY_KEY_SECRET):</a:t>
            </a:r>
            <a:br/>
            <a:r>
              <a:t>        raise HTTPException(status_code=503, detail="Razorpay not configured")</a:t>
            </a:r>
            <a:br/>
            <a:br/>
            <a:r>
              <a:t>    student_id = payload.student_id or user["user"]</a:t>
            </a:r>
            <a:br/>
            <a:r>
              <a:t>    conn = get_connection()</a:t>
            </a:r>
            <a:br/>
            <a:r>
              <a:t>    info = _student_financials(conn, student_id)</a:t>
            </a:r>
            <a:br/>
            <a:r>
              <a:t>    conn.close()</a:t>
            </a:r>
            <a:br/>
            <a:br/>
            <a:r>
              <a:t>    amount_paise = int(round(amount_inr * 100))</a:t>
            </a:r>
            <a:br/>
            <a:r>
              <a:t>    receipt = f"fee-{student_id}-{int(time.time())}"</a:t>
            </a:r>
            <a:br/>
            <a:r>
              <a:t>    </a:t>
            </a:r>
            <a:br/>
            <a:r>
              <a:t>    order = _create_razorpay_order(</a:t>
            </a:r>
            <a:br/>
            <a:r>
              <a:t>        amount_paise=amount_paise,</a:t>
            </a:r>
            <a:br/>
            <a:r>
              <a:t>        receipt=receipt,</a:t>
            </a:r>
            <a:br/>
            <a:r>
              <a:t>        notes={"student_id": student_id, "course": info["student"]["course"]}</a:t>
            </a:r>
            <a:br/>
            <a:r>
              <a:t>    )</a:t>
            </a:r>
            <a:br/>
            <a:r>
              <a:t>    return order</a:t>
            </a:r>
            <a:b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Output: Staff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pic>
        <p:nvPicPr>
          <p:cNvPr id="5" name="Picture 4" descr="staff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Output: Student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pic>
        <p:nvPicPr>
          <p:cNvPr id="5" name="Picture 4" descr="studen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10000" y="2971800"/>
            <a:ext cx="1898100" cy="763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8203</TotalTime>
  <Words>912</Words>
  <Application>Microsoft Office PowerPoint</Application>
  <PresentationFormat>On-screen Show (4:3)</PresentationFormat>
  <Paragraphs>105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Times New Roman</vt:lpstr>
      <vt:lpstr>Arial</vt:lpstr>
      <vt:lpstr>Archivo Narrow</vt:lpstr>
      <vt:lpstr>Georgia</vt:lpstr>
      <vt:lpstr>Simple Light</vt:lpstr>
      <vt:lpstr>PowerPoint Presentation</vt:lpstr>
      <vt:lpstr>About the Company</vt:lpstr>
      <vt:lpstr>About the Project</vt:lpstr>
      <vt:lpstr>Project Progress</vt:lpstr>
      <vt:lpstr>Learnings from the Project/Internship</vt:lpstr>
      <vt:lpstr>Problem Statement</vt:lpstr>
      <vt:lpstr>Literature Review / Background Study</vt:lpstr>
      <vt:lpstr>Objectives </vt:lpstr>
      <vt:lpstr>Methodology / Approach</vt:lpstr>
      <vt:lpstr>Technical Implementation </vt:lpstr>
      <vt:lpstr>Testing &amp; Validation</vt:lpstr>
      <vt:lpstr>Results &amp; Performance Analysis</vt:lpstr>
      <vt:lpstr>Challenges Faced &amp; Solutions</vt:lpstr>
      <vt:lpstr>Business Impact</vt:lpstr>
      <vt:lpstr>Future Enhancements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I  Introduction and Overview</dc:title>
  <dc:creator>91875</dc:creator>
  <cp:lastModifiedBy>Krishna Presannakumar</cp:lastModifiedBy>
  <cp:revision>930</cp:revision>
  <dcterms:modified xsi:type="dcterms:W3CDTF">2026-03-17T09:48:48Z</dcterms:modified>
</cp:coreProperties>
</file>